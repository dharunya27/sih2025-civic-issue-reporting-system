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33" autoAdjust="0"/>
  </p:normalViewPr>
  <p:slideViewPr>
    <p:cSldViewPr snapToGrid="0" snapToObjects="1">
      <p:cViewPr varScale="1">
        <p:scale>
          <a:sx n="62" d="100"/>
          <a:sy n="62" d="100"/>
        </p:scale>
        <p:origin x="804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9/27/2025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9/27/2025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10" Type="http://schemas.openxmlformats.org/officeDocument/2006/relationships/image" Target="../media/image4.png"/><Relationship Id="rId4" Type="http://schemas.openxmlformats.org/officeDocument/2006/relationships/image" Target="../media/image5.jp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7139164" y="1841360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2800" y="1006913"/>
            <a:ext cx="7847514" cy="5425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25128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Student Innovation: Swadeshi for Atmanirbhar Bharat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Clean &amp; Green Technology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ID- 80408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Name-SYNTAX SENA 2.O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6301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911761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u="sng" dirty="0">
                <a:latin typeface="Arial" panose="020B0604020202020204" pitchFamily="34" charset="0"/>
                <a:cs typeface="Arial" panose="020B0604020202020204" pitchFamily="34" charset="0"/>
              </a:rPr>
              <a:t>Crowd Civic Issue Reporting and Resolution System</a:t>
            </a:r>
            <a:endParaRPr lang="en-US" sz="3600" b="1" u="sng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252577" y="2108120"/>
            <a:ext cx="5598161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b="1" dirty="0"/>
              <a:t>✨ Detailed Explanation</a:t>
            </a:r>
          </a:p>
          <a:p>
            <a:r>
              <a:rPr lang="en-US" dirty="0"/>
              <a:t>📱 Mobile app → Report with photo + location + voice/text</a:t>
            </a:r>
            <a:br>
              <a:rPr lang="en-US" dirty="0"/>
            </a:br>
            <a:r>
              <a:rPr lang="en-US" dirty="0"/>
              <a:t>🌍 Dashboard → Live city map of issues</a:t>
            </a:r>
            <a:br>
              <a:rPr lang="en-US" dirty="0"/>
            </a:br>
            <a:r>
              <a:rPr lang="en-US" dirty="0"/>
              <a:t>⚡ Smart routing → Auto-assigns to the right dept</a:t>
            </a:r>
            <a:br>
              <a:rPr lang="en-US" dirty="0"/>
            </a:br>
            <a:r>
              <a:rPr lang="en-US" dirty="0"/>
              <a:t>🔔 Citizens track status in real-time</a:t>
            </a:r>
          </a:p>
          <a:p>
            <a:endParaRPr lang="en-US" sz="3200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-42156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675476A-0192-0394-B78C-71875978C995}"/>
              </a:ext>
            </a:extLst>
          </p:cNvPr>
          <p:cNvSpPr txBox="1"/>
          <p:nvPr/>
        </p:nvSpPr>
        <p:spPr>
          <a:xfrm>
            <a:off x="5850738" y="2108121"/>
            <a:ext cx="45023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✅ How It Solves the Problem</a:t>
            </a:r>
          </a:p>
          <a:p>
            <a:r>
              <a:rPr lang="en-US" dirty="0"/>
              <a:t>🤝 Bridges </a:t>
            </a:r>
            <a:r>
              <a:rPr lang="en-US" b="1" dirty="0"/>
              <a:t>citizen ↔ government</a:t>
            </a:r>
            <a:r>
              <a:rPr lang="en-US" dirty="0"/>
              <a:t> gap</a:t>
            </a:r>
          </a:p>
          <a:p>
            <a:r>
              <a:rPr lang="en-US" dirty="0"/>
              <a:t>⚡ Enables </a:t>
            </a:r>
            <a:r>
              <a:rPr lang="en-US" b="1" dirty="0"/>
              <a:t>faster, transparent</a:t>
            </a:r>
            <a:r>
              <a:rPr lang="en-US" dirty="0"/>
              <a:t> resolutions</a:t>
            </a:r>
          </a:p>
          <a:p>
            <a:r>
              <a:rPr lang="en-US" dirty="0"/>
              <a:t>🧠 Prioritizes issues using </a:t>
            </a:r>
            <a:r>
              <a:rPr lang="en-US" b="1" dirty="0"/>
              <a:t>AI &amp; data insights</a:t>
            </a:r>
            <a:endParaRPr lang="en-US" dirty="0"/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658C93-94B0-84FF-00E7-DA7040138D49}"/>
              </a:ext>
            </a:extLst>
          </p:cNvPr>
          <p:cNvSpPr txBox="1"/>
          <p:nvPr/>
        </p:nvSpPr>
        <p:spPr>
          <a:xfrm>
            <a:off x="252577" y="4094480"/>
            <a:ext cx="4465202" cy="174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🌟 Innovation &amp; Uniqueness</a:t>
            </a:r>
          </a:p>
          <a:p>
            <a:r>
              <a:rPr lang="en-IN" dirty="0"/>
              <a:t>📍 Geo-tag + 📸 photo + 🎙️ voice reporting</a:t>
            </a:r>
          </a:p>
          <a:p>
            <a:r>
              <a:rPr lang="en-IN" dirty="0"/>
              <a:t>🤖 Automated </a:t>
            </a:r>
            <a:r>
              <a:rPr lang="en-IN" b="1" dirty="0"/>
              <a:t>AI-based routing</a:t>
            </a:r>
            <a:endParaRPr lang="en-IN" dirty="0"/>
          </a:p>
          <a:p>
            <a:r>
              <a:rPr lang="en-IN" dirty="0"/>
              <a:t>📊 Real-time </a:t>
            </a:r>
            <a:r>
              <a:rPr lang="en-IN" b="1" dirty="0"/>
              <a:t>feedback &amp; analytics</a:t>
            </a:r>
            <a:endParaRPr lang="en-IN" dirty="0"/>
          </a:p>
          <a:p>
            <a:r>
              <a:rPr lang="en-IN" dirty="0"/>
              <a:t>🏙️ Scalable → Future </a:t>
            </a:r>
            <a:r>
              <a:rPr lang="en-IN" b="1" dirty="0"/>
              <a:t>Smart City integration</a:t>
            </a:r>
            <a:endParaRPr lang="en-IN" dirty="0"/>
          </a:p>
          <a:p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85BEE83-BB26-5C4D-B012-63FFF923F3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0961" y="3585448"/>
            <a:ext cx="6185872" cy="2256551"/>
          </a:xfrm>
          <a:prstGeom prst="rect">
            <a:avLst/>
          </a:prstGeom>
        </p:spPr>
      </p:pic>
      <p:pic>
        <p:nvPicPr>
          <p:cNvPr id="1026" name="Picture 2" descr="Generated image">
            <a:extLst>
              <a:ext uri="{FF2B5EF4-FFF2-40B4-BE49-F238E27FC236}">
                <a16:creationId xmlns:a16="http://schemas.microsoft.com/office/drawing/2014/main" id="{39E95F0D-F2E2-BEB4-6820-47247CFAE5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514" y="106656"/>
            <a:ext cx="846762" cy="846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55600" y="1426213"/>
            <a:ext cx="68580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2400" dirty="0"/>
              <a:t>📱 </a:t>
            </a:r>
            <a:r>
              <a:rPr lang="en-IN" sz="2400" b="1" dirty="0"/>
              <a:t>User App (Frontend)</a:t>
            </a:r>
            <a:r>
              <a:rPr lang="en-IN" sz="2400" dirty="0"/>
              <a:t> → Android/Flutter</a:t>
            </a:r>
          </a:p>
          <a:p>
            <a:r>
              <a:rPr lang="en-IN" sz="2400" dirty="0"/>
              <a:t>🖥️ </a:t>
            </a:r>
            <a:r>
              <a:rPr lang="en-IN" sz="2400" b="1" dirty="0"/>
              <a:t>Admin Portal (Frontend)</a:t>
            </a:r>
            <a:r>
              <a:rPr lang="en-IN" sz="2400" dirty="0"/>
              <a:t> → Web (React/Angular)</a:t>
            </a:r>
          </a:p>
          <a:p>
            <a:r>
              <a:rPr lang="en-IN" sz="2400" dirty="0"/>
              <a:t>🛠️ </a:t>
            </a:r>
            <a:r>
              <a:rPr lang="en-IN" sz="2400" b="1" dirty="0"/>
              <a:t>Backend</a:t>
            </a:r>
            <a:r>
              <a:rPr lang="en-IN" sz="2400" dirty="0"/>
              <a:t> → Java + Spring Boot</a:t>
            </a:r>
          </a:p>
          <a:p>
            <a:r>
              <a:rPr lang="en-IN" sz="2400" dirty="0"/>
              <a:t>🗄️ </a:t>
            </a:r>
            <a:r>
              <a:rPr lang="en-IN" sz="2400" b="1" dirty="0"/>
              <a:t>Database</a:t>
            </a:r>
            <a:r>
              <a:rPr lang="en-IN" sz="2400" dirty="0"/>
              <a:t> → PostgreSQL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211208-6B85-98DB-50D5-537D37F8F4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989" b="12060"/>
          <a:stretch>
            <a:fillRect/>
          </a:stretch>
        </p:blipFill>
        <p:spPr>
          <a:xfrm>
            <a:off x="1492284" y="3220303"/>
            <a:ext cx="1787459" cy="31360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4CFD131-A019-17CF-09AA-6401A982FA4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794"/>
          <a:stretch>
            <a:fillRect/>
          </a:stretch>
        </p:blipFill>
        <p:spPr>
          <a:xfrm>
            <a:off x="3979809" y="3038456"/>
            <a:ext cx="1568235" cy="331789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A320C45-DD79-923B-5F22-A9CEAE3FB9E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5244"/>
          <a:stretch>
            <a:fillRect/>
          </a:stretch>
        </p:blipFill>
        <p:spPr>
          <a:xfrm>
            <a:off x="6248110" y="3038456"/>
            <a:ext cx="1662372" cy="35004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486498B-859A-14E0-F9AB-799B487C1DD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4653"/>
          <a:stretch>
            <a:fillRect/>
          </a:stretch>
        </p:blipFill>
        <p:spPr>
          <a:xfrm>
            <a:off x="8737600" y="2950483"/>
            <a:ext cx="1734775" cy="3675689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CF30705C-0F8C-92F9-16CC-84706C2BA299}"/>
              </a:ext>
            </a:extLst>
          </p:cNvPr>
          <p:cNvSpPr/>
          <p:nvPr/>
        </p:nvSpPr>
        <p:spPr>
          <a:xfrm>
            <a:off x="3279743" y="4602822"/>
            <a:ext cx="470324" cy="236306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3E4D4439-43ED-C02C-E146-C1A94C3A6630}"/>
              </a:ext>
            </a:extLst>
          </p:cNvPr>
          <p:cNvSpPr/>
          <p:nvPr/>
        </p:nvSpPr>
        <p:spPr>
          <a:xfrm>
            <a:off x="5625386" y="4670174"/>
            <a:ext cx="470324" cy="236306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E08B03D0-01E1-292F-6CDE-252C14314B5A}"/>
              </a:ext>
            </a:extLst>
          </p:cNvPr>
          <p:cNvSpPr/>
          <p:nvPr/>
        </p:nvSpPr>
        <p:spPr>
          <a:xfrm>
            <a:off x="7995170" y="4670174"/>
            <a:ext cx="470324" cy="236306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30820FA-9F90-0AE4-27A7-9657845F69E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7765" t="-149305" r="-78432" b="108638"/>
          <a:stretch>
            <a:fillRect/>
          </a:stretch>
        </p:blipFill>
        <p:spPr>
          <a:xfrm>
            <a:off x="2104636" y="1835594"/>
            <a:ext cx="1404849" cy="140484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24AF7D5-9B75-312C-CB66-A27855D989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62397" y="3957553"/>
            <a:ext cx="661251" cy="66125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56E2EFC-B279-71AC-CD5C-A97115819B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0630" y="3367355"/>
            <a:ext cx="579924" cy="57992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0266D2F-BB2C-3C0F-7FD1-BCB5DE05A48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90263" y="3346808"/>
            <a:ext cx="1622065" cy="1012788"/>
          </a:xfrm>
          <a:prstGeom prst="rect">
            <a:avLst/>
          </a:prstGeom>
        </p:spPr>
      </p:pic>
      <p:pic>
        <p:nvPicPr>
          <p:cNvPr id="28" name="Picture 2" descr="Generated image">
            <a:extLst>
              <a:ext uri="{FF2B5EF4-FFF2-40B4-BE49-F238E27FC236}">
                <a16:creationId xmlns:a16="http://schemas.microsoft.com/office/drawing/2014/main" id="{37EA4DFB-C521-DF7D-DB4A-AAE87D55F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514" y="106656"/>
            <a:ext cx="846762" cy="846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B1D21CD-2355-08CC-00C9-2E2086538B71}"/>
              </a:ext>
            </a:extLst>
          </p:cNvPr>
          <p:cNvSpPr txBox="1"/>
          <p:nvPr/>
        </p:nvSpPr>
        <p:spPr>
          <a:xfrm>
            <a:off x="1219200" y="1346746"/>
            <a:ext cx="4724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✅ </a:t>
            </a:r>
            <a:r>
              <a:rPr lang="en-US" sz="2000" b="1" dirty="0"/>
              <a:t>Feasibility</a:t>
            </a: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Tech stack is proven &amp; scalable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Citizens already use smartphones daily</a:t>
            </a:r>
          </a:p>
          <a:p>
            <a:endParaRPr lang="en-IN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75C9D9-F6F8-0222-F0DD-9994424E98AC}"/>
              </a:ext>
            </a:extLst>
          </p:cNvPr>
          <p:cNvSpPr txBox="1"/>
          <p:nvPr/>
        </p:nvSpPr>
        <p:spPr>
          <a:xfrm>
            <a:off x="3127800" y="2640306"/>
            <a:ext cx="4724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⚠️ </a:t>
            </a:r>
            <a:r>
              <a:rPr lang="en-US" sz="2000" b="1" dirty="0"/>
              <a:t>Challenges / Risks</a:t>
            </a: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Low user adoption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Data overload for the government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Network/connectivity issues</a:t>
            </a:r>
          </a:p>
          <a:p>
            <a:endParaRPr lang="en-IN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ED2347-D521-2524-9404-C076A4B539DE}"/>
              </a:ext>
            </a:extLst>
          </p:cNvPr>
          <p:cNvSpPr txBox="1"/>
          <p:nvPr/>
        </p:nvSpPr>
        <p:spPr>
          <a:xfrm>
            <a:off x="1278375" y="4271522"/>
            <a:ext cx="349830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💡 </a:t>
            </a:r>
            <a:r>
              <a:rPr lang="en-IN" sz="2000" b="1" dirty="0"/>
              <a:t>Strategies</a:t>
            </a:r>
            <a:endParaRPr lang="en-IN" sz="20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000" dirty="0"/>
              <a:t>Awareness campaigns 📢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000" dirty="0"/>
              <a:t>Smart filters &amp; AI 🤖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000" dirty="0"/>
              <a:t>Offline mode 🌐</a:t>
            </a:r>
          </a:p>
          <a:p>
            <a:endParaRPr lang="en-IN" sz="2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9109B2A-F0F9-2D89-657B-4790E0EAF1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5320" y="1680861"/>
            <a:ext cx="4493260" cy="2995507"/>
          </a:xfrm>
          <a:prstGeom prst="rect">
            <a:avLst/>
          </a:prstGeom>
        </p:spPr>
      </p:pic>
      <p:pic>
        <p:nvPicPr>
          <p:cNvPr id="3" name="Picture 2" descr="Generated image">
            <a:extLst>
              <a:ext uri="{FF2B5EF4-FFF2-40B4-BE49-F238E27FC236}">
                <a16:creationId xmlns:a16="http://schemas.microsoft.com/office/drawing/2014/main" id="{BF3AFEE5-96AB-6876-4B10-A05339A8D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514" y="106656"/>
            <a:ext cx="846762" cy="846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7621D6-142B-D140-2A36-7C559BEC7E83}"/>
              </a:ext>
            </a:extLst>
          </p:cNvPr>
          <p:cNvSpPr txBox="1"/>
          <p:nvPr/>
        </p:nvSpPr>
        <p:spPr>
          <a:xfrm>
            <a:off x="522153" y="1390451"/>
            <a:ext cx="417576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👥 Social</a:t>
            </a:r>
          </a:p>
          <a:p>
            <a:r>
              <a:rPr lang="en-US" dirty="0"/>
              <a:t>Empowers citizens to actively participate</a:t>
            </a:r>
          </a:p>
          <a:p>
            <a:r>
              <a:rPr lang="en-US" dirty="0"/>
              <a:t>Builds trust &amp; transparency in governance</a:t>
            </a:r>
          </a:p>
          <a:p>
            <a:r>
              <a:rPr lang="en-US" dirty="0"/>
              <a:t>Enhances safety &amp; quality of life.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2D16DB-3BFD-CBAA-2A77-CB64CC9219BA}"/>
              </a:ext>
            </a:extLst>
          </p:cNvPr>
          <p:cNvSpPr txBox="1"/>
          <p:nvPr/>
        </p:nvSpPr>
        <p:spPr>
          <a:xfrm>
            <a:off x="522153" y="3066893"/>
            <a:ext cx="516497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💰 </a:t>
            </a:r>
            <a:r>
              <a:rPr lang="en-US" sz="2000" b="1" dirty="0"/>
              <a:t>Economic</a:t>
            </a:r>
            <a:endParaRPr lang="en-US" sz="2000" dirty="0"/>
          </a:p>
          <a:p>
            <a:r>
              <a:rPr lang="en-US" dirty="0"/>
              <a:t>Saves municipal resources via efficient workflows</a:t>
            </a:r>
          </a:p>
          <a:p>
            <a:r>
              <a:rPr lang="en-US" dirty="0"/>
              <a:t>Reduces repair/maintenance costs with early detection.</a:t>
            </a:r>
          </a:p>
          <a:p>
            <a:r>
              <a:rPr lang="en-US" dirty="0"/>
              <a:t>Boosts productivity by minimizing civic disruptions.</a:t>
            </a:r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DE98F4-6F14-E933-36E7-94B7BE32DF81}"/>
              </a:ext>
            </a:extLst>
          </p:cNvPr>
          <p:cNvSpPr txBox="1"/>
          <p:nvPr/>
        </p:nvSpPr>
        <p:spPr>
          <a:xfrm>
            <a:off x="7845149" y="1135824"/>
            <a:ext cx="4205337" cy="2111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🌱 </a:t>
            </a:r>
            <a:r>
              <a:rPr lang="en-IN" sz="2000" b="1" dirty="0"/>
              <a:t>Environmental</a:t>
            </a:r>
            <a:endParaRPr lang="en-IN" sz="2000" dirty="0"/>
          </a:p>
          <a:p>
            <a:r>
              <a:rPr lang="en-IN" dirty="0"/>
              <a:t>Faster waste management → cleaner surroundings.</a:t>
            </a:r>
          </a:p>
          <a:p>
            <a:r>
              <a:rPr lang="en-IN" dirty="0"/>
              <a:t>Reduced pollution from unattended garbage.</a:t>
            </a:r>
          </a:p>
          <a:p>
            <a:r>
              <a:rPr lang="en-IN" dirty="0"/>
              <a:t>Supports sustainable, smart-city initiatives.</a:t>
            </a:r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901B10-E24F-DD15-17B2-6875F229BF48}"/>
              </a:ext>
            </a:extLst>
          </p:cNvPr>
          <p:cNvSpPr txBox="1"/>
          <p:nvPr/>
        </p:nvSpPr>
        <p:spPr>
          <a:xfrm>
            <a:off x="3774980" y="4829624"/>
            <a:ext cx="516497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💻 </a:t>
            </a:r>
            <a:r>
              <a:rPr lang="en-US" sz="2000" b="1" dirty="0"/>
              <a:t>Technological</a:t>
            </a:r>
            <a:endParaRPr lang="en-US" sz="2000" dirty="0"/>
          </a:p>
          <a:p>
            <a:r>
              <a:rPr lang="en-US" dirty="0"/>
              <a:t>Promotes digital adoption among citizens</a:t>
            </a:r>
          </a:p>
          <a:p>
            <a:r>
              <a:rPr lang="en-US" dirty="0"/>
              <a:t>Scalable for integration with future smart-city platforms.</a:t>
            </a:r>
          </a:p>
          <a:p>
            <a:r>
              <a:rPr lang="en-US" dirty="0"/>
              <a:t>Data-driven insights for better urban planning.</a:t>
            </a:r>
          </a:p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4E7E1D-9DE1-C8FC-FA35-13D3C6ED70F3}"/>
              </a:ext>
            </a:extLst>
          </p:cNvPr>
          <p:cNvSpPr txBox="1"/>
          <p:nvPr/>
        </p:nvSpPr>
        <p:spPr>
          <a:xfrm>
            <a:off x="7845148" y="3198082"/>
            <a:ext cx="420533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📊 Governance</a:t>
            </a:r>
          </a:p>
          <a:p>
            <a:r>
              <a:rPr lang="en-US" dirty="0"/>
              <a:t>Transparent monitoring of civic departments.</a:t>
            </a:r>
          </a:p>
          <a:p>
            <a:r>
              <a:rPr lang="en-US" dirty="0"/>
              <a:t>Measurable performance via analytics</a:t>
            </a:r>
          </a:p>
          <a:p>
            <a:r>
              <a:rPr lang="en-US" dirty="0"/>
              <a:t>Increased accountability of officials.</a:t>
            </a:r>
          </a:p>
          <a:p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D65C66B-94F1-B72F-3DB8-60DC469375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9788" y="1528373"/>
            <a:ext cx="2975361" cy="2458000"/>
          </a:xfrm>
          <a:prstGeom prst="rect">
            <a:avLst/>
          </a:prstGeom>
        </p:spPr>
      </p:pic>
      <p:pic>
        <p:nvPicPr>
          <p:cNvPr id="3" name="Picture 2" descr="Generated image">
            <a:extLst>
              <a:ext uri="{FF2B5EF4-FFF2-40B4-BE49-F238E27FC236}">
                <a16:creationId xmlns:a16="http://schemas.microsoft.com/office/drawing/2014/main" id="{5DA81925-CDAC-4BB8-01FE-8D17A3973C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514" y="106656"/>
            <a:ext cx="846762" cy="846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071154" y="972516"/>
            <a:ext cx="9820366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2000" b="1" u="sng" dirty="0"/>
              <a:t>📚 References</a:t>
            </a:r>
          </a:p>
          <a:p>
            <a:endParaRPr lang="en-IN" sz="2000" b="1" u="sng" dirty="0"/>
          </a:p>
          <a:p>
            <a:r>
              <a:rPr lang="en-IN" sz="2000" dirty="0"/>
              <a:t>[1] Ministry of Housing and Urban Affairs, </a:t>
            </a:r>
            <a:r>
              <a:rPr lang="en-IN" sz="2000" i="1" dirty="0"/>
              <a:t>Smart City Mission</a:t>
            </a:r>
            <a:r>
              <a:rPr lang="en-IN" sz="2000" dirty="0"/>
              <a:t>, Government of India. [Online]. Available: https://smartcities.gov.in</a:t>
            </a:r>
          </a:p>
          <a:p>
            <a:r>
              <a:rPr lang="en-IN" sz="2000" dirty="0"/>
              <a:t>[2] S. Agarwal, R. Gupta, and A. Sharma, “E-governance for urban service delivery: A smart city perspective,” </a:t>
            </a:r>
            <a:r>
              <a:rPr lang="en-IN" sz="2000" i="1" dirty="0"/>
              <a:t>IEEE Access</a:t>
            </a:r>
            <a:r>
              <a:rPr lang="en-IN" sz="2000" dirty="0"/>
              <a:t>, vol. 9, pp. 112345–112358, 2021.</a:t>
            </a:r>
          </a:p>
          <a:p>
            <a:r>
              <a:rPr lang="en-IN" sz="2000" dirty="0"/>
              <a:t>[3] World Bank, </a:t>
            </a:r>
            <a:r>
              <a:rPr lang="en-IN" sz="2000" i="1" dirty="0"/>
              <a:t>Urban Service Delivery and Technology in Developing Countries</a:t>
            </a:r>
            <a:r>
              <a:rPr lang="en-IN" sz="2000" dirty="0"/>
              <a:t>. Washington, DC, USA: World Bank, 2020.</a:t>
            </a:r>
          </a:p>
          <a:p>
            <a:r>
              <a:rPr lang="en-IN" sz="2000" dirty="0"/>
              <a:t>[4] T. Nam and T. A. Pardo, “Conceptualizing smart city with dimensions of technology, people, and institutions,” in </a:t>
            </a:r>
            <a:r>
              <a:rPr lang="en-IN" sz="2000" i="1" dirty="0"/>
              <a:t>Proc. 12th Annu. Int. Digital Government Research Conf.</a:t>
            </a:r>
            <a:r>
              <a:rPr lang="en-IN" sz="2000" dirty="0"/>
              <a:t>, 2011, pp. 282–291.</a:t>
            </a:r>
          </a:p>
          <a:p>
            <a:r>
              <a:rPr lang="en-IN" sz="2000" dirty="0"/>
              <a:t>[5] “</a:t>
            </a:r>
            <a:r>
              <a:rPr lang="en-IN" sz="2000" dirty="0" err="1"/>
              <a:t>FixMyStreet</a:t>
            </a:r>
            <a:r>
              <a:rPr lang="en-IN" sz="2000" dirty="0"/>
              <a:t> Platform – Crowdsourced Civic Reporting,” </a:t>
            </a:r>
            <a:r>
              <a:rPr lang="en-IN" sz="2000" dirty="0" err="1"/>
              <a:t>mySociety</a:t>
            </a:r>
            <a:r>
              <a:rPr lang="en-IN" sz="2000" dirty="0"/>
              <a:t>, 2023. [Online]. Available: https://www.fixmystreet.com </a:t>
            </a:r>
            <a:r>
              <a:rPr lang="en-IN" sz="2000" i="1" dirty="0"/>
              <a:t>(ISC)</a:t>
            </a:r>
            <a:r>
              <a:rPr lang="en-IN" sz="2000" dirty="0"/>
              <a:t>, 2021, pp. 201–207.</a:t>
            </a:r>
          </a:p>
          <a:p>
            <a:endParaRPr lang="en-IN" sz="2000" dirty="0"/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E2B5625-F523-8474-313B-B7C000BF09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514" y="54458"/>
            <a:ext cx="929640" cy="929640"/>
          </a:xfrm>
          <a:prstGeom prst="rect">
            <a:avLst/>
          </a:prstGeom>
        </p:spPr>
      </p:pic>
      <p:pic>
        <p:nvPicPr>
          <p:cNvPr id="3" name="Picture 2" descr="Generated image">
            <a:extLst>
              <a:ext uri="{FF2B5EF4-FFF2-40B4-BE49-F238E27FC236}">
                <a16:creationId xmlns:a16="http://schemas.microsoft.com/office/drawing/2014/main" id="{EDCF3870-215F-97E8-C50C-FDBA46D43D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514" y="106656"/>
            <a:ext cx="846762" cy="846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7684</TotalTime>
  <Words>532</Words>
  <Application>Microsoft Office PowerPoint</Application>
  <PresentationFormat>Widescreen</PresentationFormat>
  <Paragraphs>77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Crowd Civic Issue Reporting and Resolution System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Raman Haldar</cp:lastModifiedBy>
  <cp:revision>161</cp:revision>
  <dcterms:created xsi:type="dcterms:W3CDTF">2013-12-12T18:46:50Z</dcterms:created>
  <dcterms:modified xsi:type="dcterms:W3CDTF">2025-09-27T10:01:21Z</dcterms:modified>
  <cp:category/>
</cp:coreProperties>
</file>